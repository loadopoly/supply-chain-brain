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10972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1A1A1A"/>
                </a:solidFill>
                <a:latin typeface="Calibri"/>
              </a:rPr>
              <a:t>Portfolio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Anchor T = 2026-04-20   |   Past 14d 2026-04-06 → 2026-04-19   |   ERP: mixed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Datasets in scope: OTD · IFR · ITR · PFEP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Anchor policy AST-INV-PRO-0001   ·   Reproducibility seed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OTD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87.96%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+1.71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87.76%   |   n=1,254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81.53%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61B1B"/>
                </a:solidFill>
                <a:latin typeface="Calibri"/>
              </a:rPr>
              <a:t>Δ vs prior 14d: -0.27 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81.0%   |   n=1,917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60" y="1371600"/>
            <a:ext cx="356616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CYCLE-COUNT 14D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78308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42316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+0.0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7432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0.0%   |   n=149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4747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FOUR LENSES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749039"/>
            <a:ext cx="112471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Failure signature — top OTD reason: WH failed to ship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Allocation vs. stockout — alloc-gap 21.2% | hard-stockout 0.0%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PFEP match rate on miss parts — 89.4%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Triple intersection (CC∩IFR∩OTD, 90d) — 218 parts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3035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REALIZATIONS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577840"/>
            <a:ext cx="11247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87.9% of variance is un-attributable (Reason Code populated on 12.1% of adjustments). Root-cause targeting is impossible until the field is enforced.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Pre-stage the top-20 fat-tail parts (p99 Days Late = 44.0). Cheaper than chasing median cycle-time.</a:t>
            </a:r>
          </a:p>
          <a:p>
            <a:pPr algn="l"/>
            <a:r>
              <a:rPr sz="1200">
                <a:solidFill>
                  <a:srgbClr val="164E87"/>
                </a:solidFill>
                <a:latin typeface="Calibri"/>
              </a:rPr>
              <a:t>•  Supplier scorecard program with focused vendor cohort, not full base (top-5 suppliers = 100.0% of combined misses+lates).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Data architecture — four datasets joined through Part No.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OTD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sales-order line history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Ship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No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Line No</a:t>
            </a:r>
          </a:p>
        </p:txBody>
      </p:sp>
      <p:sp>
        <p:nvSpPr>
          <p:cNvPr id="9" name="Rectangle 8"/>
          <p:cNvSpPr/>
          <p:nvPr/>
        </p:nvSpPr>
        <p:spPr>
          <a:xfrm>
            <a:off x="6766560" y="155448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49440" y="1691639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240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order-line snapshot at order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2606039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Site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Order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Part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SO Qty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Available Qty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ITR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inventory transactions (cycle-count)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Date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Transaction Type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Quantity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Net Dollar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0" y="402336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1605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64E87"/>
                </a:solidFill>
                <a:latin typeface="Calibri"/>
              </a:rPr>
              <a:t>PFEP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4709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plan-for-every-part master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5074920"/>
            <a:ext cx="4206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Name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Item Status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Make or Buy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Supplier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Buyer Name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77840" y="3108960"/>
            <a:ext cx="1005840" cy="1005840"/>
          </a:xfrm>
          <a:prstGeom prst="rect">
            <a:avLst/>
          </a:prstGeom>
          <a:solidFill>
            <a:srgbClr val="164E8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577840" y="34290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scorecard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OTD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87.96%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+1.71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87.76%   |   n=1,254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DAYS-LATE DISTRIBUTION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6400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Median Days Late: 24.0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p75 / p90 / p99: 33.5 / 40.0 / 44.0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Max Days Late: 44.0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Fat-tail flag (p99 &gt; 30): 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PER-SITE OTD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57200" y="4114800"/>
          <a:ext cx="112471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1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Site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OTD 14d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Δ pp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90d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Burlington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+1.31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258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Chattanooga - Manufacturers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+2.51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Chattanooga - Wilson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86.9%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+2.3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237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Eugene - Airport Road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+4.99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Parsons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-2.76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255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failure signature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Total late lines (14d): 151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Failure reason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WH failed to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EXECUTION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Missing other item on same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KITTING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Customer reschedule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OTHER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Manufactured not ready, behind schedule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18.5%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SCHEDULING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No purchased part, supplier 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Class = EXECUTION / KITTING / SCHEDULING / SUPPLY — routes to pathway templates.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OTD — customer centrality + days-late tail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68580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08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Late lines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Share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Flag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Acme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Waystar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Soylent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Globex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Umbrella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Wayne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Stark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  <a:tr h="5080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Initech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137160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DAYS-LATE TAIL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73736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 = 151 late lines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median = 24.0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p75 = 33.5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p90 = 40.0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p99 = 44.0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max = 44.0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scorecard + miss decomposition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IFR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81.53%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A61B1B"/>
                </a:solidFill>
                <a:latin typeface="Calibri"/>
              </a:rPr>
              <a:t>Δ vs prior 14d: -0.27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81.0%   |   n=1,917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0" y="1645920"/>
            <a:ext cx="1317355" cy="731520"/>
          </a:xfrm>
          <a:prstGeom prst="rect">
            <a:avLst/>
          </a:prstGeom>
          <a:solidFill>
            <a:srgbClr val="164E87"/>
          </a:solidFill>
          <a:ln w="9525"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03755" y="1645920"/>
            <a:ext cx="4900564" cy="731520"/>
          </a:xfrm>
          <a:prstGeom prst="rect">
            <a:avLst/>
          </a:prstGeom>
          <a:solidFill>
            <a:srgbClr val="6B7280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2468880"/>
            <a:ext cx="6217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n=354 misses   |   alloc-gap 21.2%   hard-stockout 0.0%   covered 78.8%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DIAGNOSTIC INTERPRETATION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allocation-gap → reservation/pegging issue (Oracle hygiene).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High hard-stockout → safety-stock problem (PFEP fix).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Covered-miss should be near zero — if not, investigate data quality.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IFR allocation-gap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B35C00"/>
                </a:solidFill>
                <a:latin typeface="Calibri"/>
              </a:rPr>
              <a:t>21.2% of IFR misses are allocation-gap, not stockout.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MECHANISM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01752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On Hand Qty &gt; 0 AND Available Qty &lt; SO Qty → stock is there but reserved elsewhere.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Root cause is reservation logic (pegging, MRP allocations, stale orders), not supply.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Fixing via safety-stock raise is a mis-diagnosis — inventory grows without OTIF lift.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Systemic pathway #4 — nightly allocation reconciliation batch job.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Vendor centrality — shared leverage on OTD + IFR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Supplier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Combined (late+miss)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OTD late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IFR miss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80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74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73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68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Supplier-B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Top-5 is the intervention list — focused scorecard, not full supplier base.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Cycle-count cadence + 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45720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42062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CC ACCURACY 14D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Calibri"/>
              </a:rPr>
              <a:t>0.0%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F763C"/>
                </a:solidFill>
                <a:latin typeface="Calibri"/>
              </a:rPr>
              <a:t>Δ vs prior 14d: +0.0 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4320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goal 95.0%   |   90d 0.0%   |   n=149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37160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CADENCE &amp; VARIANCE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69164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Active days / business days: 12 / 10  (120.0%)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Absolute variance $: $57,822.55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Net variance $: $-6,836.61  (positive = found-stock bias)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Repeat-offender share: 30.9% of tx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Reason Code populated: 12.1%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PFEP parameter health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1A1A"/>
                </a:solidFill>
                <a:latin typeface="Calibri"/>
              </a:rPr>
              <a:t>Miss parts matched against PFEP: 89.4%  (n=1108)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Safety Stock missing on matched: 53.0%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ABC missing on matched: 8.4%</a:t>
            </a:r>
          </a:p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Lead Time = 0 on matched: 33.8%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A61B1B"/>
                </a:solidFill>
                <a:latin typeface="Calibri"/>
              </a:rPr>
              <a:t>RECOVERABLE STOCKOUT CALC BLOCKED: match rate 89.4% &lt; 90%.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B7280"/>
                </a:solidFill>
                <a:latin typeface="Calibri"/>
              </a:rPr>
              <a:t>Resolve canonical part-number alignment before acting on recoverable count.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Cross-dataset intersection — where fixes compound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5029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51435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Bucket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Parts (90d)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IFR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59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OTD ∩ IFR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15</a:t>
                      </a:r>
                    </a:p>
                  </a:txBody>
                  <a:tcPr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CC ∩ IFR ∩ OTD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218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3716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TRIPLE-INTERSECTION PARTS (first 15)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69164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AST-10506-0025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AST-10509-0216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AST-10660-0117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AST-11156-0146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AST-11175-0016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AST-11319-0135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AST-11351-0205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AST-12508-0246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AST-13151-0271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AST-13372-0186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AST-13750-0108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AST-14057-0156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AST-14841-0114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AST-14919-0139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AST-15370-0088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Systemic pathways — ERP-level configuration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9144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Pathway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Seq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Transaction Reason Code enforcement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Assign Buyer / Planner 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IT Governance + Procurement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2976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EXPECTED DOWNSTREAM LIFT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61772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Transaction Reason Code enforcement — Variance becomes attributable; root-cause targeting becomes possible.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Assign Buyer / Planner codes — Ownership routing — vendor scorecard program can run deterministically.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Operational pathways — plant-floor action cards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40"/>
                <a:gridCol w="3749040"/>
                <a:gridCol w="3749040"/>
              </a:tblGrid>
              <a:tr h="6096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Trigger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Pre-stage top-20 fat-tail 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Planner + Site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R10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 scorecard + expedite 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Procurement + Planner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WH failed to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Pick-wave rebalance + same-SO completion gate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Missing other item on same 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Kit-complete check at pick release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WMS Lead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Manufactured not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Fab-schedule sync + early-warning 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 Lead + Fab Lead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21208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Operational fixes are per-site — pair each action with a named Site Lead before the next review.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30 · 60 · 90 · 180-day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7160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Close PFEP data gaps on active Buy items (Safety Stock + ABC + LT)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Enforce Transaction Reason Code on cycle-count adjustments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Stand up weekly OTD / IFR / CC scorecard with §4 window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517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65176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Allocation reconciliation batch in Oracle (systemic #4)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Pick-wave rebalance pilot at highest-lateness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Vendor scorecard for top-5 combined OTD+IFR suppliers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931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931920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PFEP health review #2 — measure match-rate lift on miss parts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Extend cycle-count cadence audit to every site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Pre-stage top-20 fat-tail parts if R8 fired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212079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64E87"/>
                </a:solidFill>
                <a:latin typeface="Calibri"/>
              </a:rPr>
              <a:t>T+180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5212079"/>
            <a:ext cx="9601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Kit-complete check at pick release across all sites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Quarterly customer-relationship review with concentrated accounts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Re-baseline KPI goals using 90d rolling performance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Cross-Dataset Supply-Chain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Governance + closing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Cadence: Weekly KPI review; bi-weekly realization review; monthly pathway progress.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Targets: OTD 95.0%, IFR 95.0%, CC accuracy ≥ 95.0%</a:t>
            </a:r>
          </a:p>
          <a:p>
            <a:pPr algn="l"/>
            <a:r>
              <a:rPr sz="1300">
                <a:solidFill>
                  <a:srgbClr val="1A1A1A"/>
                </a:solidFill>
                <a:latin typeface="Calibri"/>
              </a:rPr>
              <a:t>•  Review runbook: PlantReview §6 (60-minute conversation flow).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4E87"/>
                </a:solidFill>
                <a:latin typeface="Calibri"/>
              </a:rPr>
              <a:t>Systemic fixes make tomorrow's review easier. Operational fixes make today's review honest.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AST-INV-PRO-0001   ·   seed 9   ·   generated for ALL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