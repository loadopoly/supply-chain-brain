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164E8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1A1A1A"/>
                </a:solidFill>
                <a:latin typeface="Calibri"/>
              </a:rPr>
              <a:t>Site: Chattanooga - Manufacturers Road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Anchor T = 2026-04-20   |   Past 14d 2026-04-06 → 2026-04-19   |   ERP: epicor9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Datasets in scope: OTD · IFR · ITR · PFEP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63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Anchor policy AST-INV-PRO-0001   ·   Reproducibility seed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OTD 14D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61.17%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763C"/>
                </a:solidFill>
                <a:latin typeface="Calibri"/>
              </a:rPr>
              <a:t>Δ vs prior 14d: +15.34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goal 95.0%   |   90d 54.54%   |   n=3,044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5661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087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IFR 14D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7830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0.02%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423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763C"/>
                </a:solidFill>
                <a:latin typeface="Calibri"/>
              </a:rPr>
              <a:t>Δ vs prior 14d: +0.02 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743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goal 95.0%   |   90d 0.0%   |   n=4,791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5661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5087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CYCLE-COUNT 14D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7830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23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Δ vs prior 14d: n/a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743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goal 95.0%   |   90d —%   |   n=0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747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FOUR LENSES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49039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Failure signature — top OTD reason: Unknown / not captured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Allocation vs. stockout — alloc-gap 0.0% | hard-stockout 100.0%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PFEP match rate on miss parts — 100.0%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Triple intersection (CC∩IFR∩OTD, 90d) — 0 parts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03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REALIZATIONS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7784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64E87"/>
                </a:solidFill>
                <a:latin typeface="Calibri"/>
              </a:rPr>
              <a:t>•  23504 of 23504 purchased stockouts are PFEP-preventable. One-time data fix = compounding ROI.</a:t>
            </a:r>
          </a:p>
          <a:p>
            <a:pPr algn="l"/>
            <a:r>
              <a:rPr sz="1200">
                <a:solidFill>
                  <a:srgbClr val="164E87"/>
                </a:solidFill>
                <a:latin typeface="Calibri"/>
              </a:rPr>
              <a:t>•  Cycle-count program has stopped (active days 0/10 = 0.0%) — accuracy KPIs are directional only.</a:t>
            </a:r>
          </a:p>
          <a:p>
            <a:pPr algn="l"/>
            <a:r>
              <a:rPr sz="1200">
                <a:solidFill>
                  <a:srgbClr val="164E87"/>
                </a:solidFill>
                <a:latin typeface="Calibri"/>
              </a:rPr>
              <a:t>•  100.0% of variance is un-attributable (Reason Code populated on 0.0% of adjustments). Root-cause targeting is impossible until the field is enforced.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Data architecture — four datasets joined through Part No.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4572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39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64E87"/>
                </a:solidFill>
                <a:latin typeface="Calibri"/>
              </a:rPr>
              <a:t>OTD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sales-order line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39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Site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Order Date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Ship Date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SO No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Line No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1554480"/>
            <a:ext cx="4572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691639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64E87"/>
                </a:solidFill>
                <a:latin typeface="Calibri"/>
              </a:rPr>
              <a:t>IFR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2402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order-line snapshot at order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606039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Site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Order Date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Part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SO Qty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Available Qty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023360"/>
            <a:ext cx="4572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64E87"/>
                </a:solidFill>
                <a:latin typeface="Calibri"/>
              </a:rPr>
              <a:t>ITR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7091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inventory transactions (cycle-count)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07492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Transaction Date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Transaction Type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Item Name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Quantity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Net Dollar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4023360"/>
            <a:ext cx="4572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41605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64E87"/>
                </a:solidFill>
                <a:latin typeface="Calibri"/>
              </a:rPr>
              <a:t>PFEP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7091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plan-for-every-part master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507492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Item Name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Item Status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Make or Buy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Supplier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Buyer Name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3108960"/>
            <a:ext cx="1005840" cy="1005840"/>
          </a:xfrm>
          <a:prstGeom prst="rect">
            <a:avLst/>
          </a:prstGeom>
          <a:solidFill>
            <a:srgbClr val="164E8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34290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OTD failure signature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Total late lines (14d): 1182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2024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182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Failure reason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Share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Class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1828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Unknown / not captured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OTHER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Class = EXECUTION / KITTING / SCHEDULING / SUPPLY — routes to pathway templates.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OTD — customer centrality + days-late 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6858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4156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Customer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Late lines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Share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Flag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MILESTONE CONTRACTORS  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47.0%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★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COWIN EQUIPMENT CO INC.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★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CLOSNER EQUIPMENT COMPANY, INC.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★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TRACEY ROAD EQUIPMENT, INC.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ASTEC AUSTRALIA PTY, LTD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THE G W VAN KEPPEL 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HILLS MACHINERY COMPANY LLC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ALTA EQUIPMENT 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BEST LINE LEASING, INC.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W W CLYDE 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3716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DAYS-LATE 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7373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n = 1182 late lines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median = 20.0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p75 = 22.0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p90 = 25.0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p99 = 43.0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max = 203.0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IFR scorecard + miss decomposition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572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IFR 14D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0.02%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763C"/>
                </a:solidFill>
                <a:latin typeface="Calibri"/>
              </a:rPr>
              <a:t>Δ vs prior 14d: +0.02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goal 95.0%   |   90d 0.0%   |   n=4,791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645920"/>
            <a:ext cx="6217920" cy="731520"/>
          </a:xfrm>
          <a:prstGeom prst="rect">
            <a:avLst/>
          </a:prstGeom>
          <a:solidFill>
            <a:srgbClr val="A61B1B"/>
          </a:solidFill>
          <a:ln w="9525">
            <a:solidFill>
              <a:srgbClr val="A6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246888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n=4790 misses   |   alloc-gap 0.0%   hard-stockout 100.0%   covered 0.0%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DIAGNOSTIC 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High allocation-gap → reservation/pegging issue (Oracle hygiene).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High hard-stockout → safety-stock problem (PFEP fix).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Covered-miss should be near zero — if not, investigate data quality.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Vendor centrality — shared leverage on OTD + IFR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09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Supplier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Combined (late+miss)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OTD late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IFR miss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STOCKD 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904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UNITED ELECTRIC 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566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HYDRAULIC SUPPLY 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372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264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344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267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PRO THERM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Top-5 is the intervention list — focused scorecard, not full supplier base.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Cycle-count cadence + variance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572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CC ACCURACY 14D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Δ vs prior 14d: n/a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goal 95.0%   |   90d —%   |   n=0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3716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CADENCE &amp; VARIANCE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69164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Active days / business days: 0 / 10  (0.0%)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Absolute variance $: $0.0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Net variance $: $0.0  (positive = found-stock bias)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Repeat-offender share: 0.0% of tx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Reason Code populated: 0.0%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PFEP parameter health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Miss parts matched against PFEP: 100.0%  (n=23504)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Safety Stock missing on matched: 100.0%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ABC missing on matched: 100.0%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Lead Time = 0 on matched: 100.0%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RECOVERABLE STOCKOUTS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4E87"/>
                </a:solidFill>
                <a:latin typeface="Calibri"/>
              </a:rPr>
              <a:t>23504 of 23504 purchased stockouts are PFEP-preventable (100.0%).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Cross-dataset intersection — where fixes compound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502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5143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Bucket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Parts (90d)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CC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IFR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2345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OTD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293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CC ∩ IFR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CC ∩ OTD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OTD ∩ IFR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3233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CC ∩ IFR ∩ OTD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0" y="1371600"/>
            <a:ext cx="57607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No parts appear in all three datasets.
Datasets pick up different failure modes — interventions run in parallel.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Systemic pathways — ERP-level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Trigger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Pathway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Seq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Populate ABC Inventory Catalog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IT Governance + Planner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Switch Safety Stock Planning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Planner + Buyer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Transaction Reason Code enforcement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IT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Assign Buyer / Planner codes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IT Governance + 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Item Cycle Count Enabled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 Lead + IT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EXPECTED DOWNSTREAM LIFT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11247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Populate ABC Inventory Catalog — Drives CC cadence under AST-INV-PRO-0001; unlocks safety-stock math.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Switch Safety Stock Planning Method — Converts recoverable stockouts to on-time fills — compounding ROI per spec §4.4b.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Transaction Reason Code enforcement — Variance becomes attributable; root-cause targeting becomes possible.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Assign Buyer / Planner codes — Ownership routing — vendor scorecard program can run deterministically.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Item Cycle Count Enabled audit — Restores the cycle-count program; CC accuracy becomes meaningful again.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Operational pathways — plant-floor action cards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2251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Trigger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Pre-stage top-20 fat-tail 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Planner + Site Lead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Customer relationship review + order-shape conversation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Commercial + Site Lead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 scorecard + expedite 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Procurement + Planner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WH failed to 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Pick-wave rebalance + same-SO completion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 Lead + WMS Lead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Missing other item on same 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Kit-complete check at pick release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 Lead + WMS Lead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Manufactured not ready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Fab-schedule sync + early-warning flag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 Lead + Fab Lead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Operational fixes are per-site — pair each action with a named Site Lead before the next review.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30 · 60 · 90 · 180-day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64E87"/>
                </a:solidFill>
                <a:latin typeface="Calibri"/>
              </a:rPr>
              <a:t>T+30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37160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Close PFEP data gaps on active Buy items (Safety Stock + ABC + LT)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Enforce Transaction Reason Code on cycle-count adjustments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Stand up weekly OTD / IFR / CC scorecard with §4 window convention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64E87"/>
                </a:solidFill>
                <a:latin typeface="Calibri"/>
              </a:rPr>
              <a:t>T+60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65176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Allocation reconciliation batch in Oracle (systemic #4)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Pick-wave rebalance pilot at highest-lateness site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Vendor scorecard for top-5 combined OTD+IFR suppliers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64E87"/>
                </a:solidFill>
                <a:latin typeface="Calibri"/>
              </a:rPr>
              <a:t>T+90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93192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PFEP health review #2 — measure match-rate lift on miss parts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Extend cycle-count cadence audit to every site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Pre-stage top-20 fat-tail parts if R8 fired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79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64E87"/>
                </a:solidFill>
                <a:latin typeface="Calibri"/>
              </a:rPr>
              <a:t>T+180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5212079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Kit-complete check at pick release across all sites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Quarterly customer-relationship review with concentrated accounts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Re-baseline KPI goals using 90d rolling performance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Governance + closing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1A"/>
                </a:solidFill>
                <a:latin typeface="Calibri"/>
              </a:rPr>
              <a:t>•  Cadence: Weekly KPI review; bi-weekly realization review; monthly pathway progress.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alibri"/>
              </a:rPr>
              <a:t>•  Targets: OTD 95.0%, IFR 95.0%, CC accuracy ≥ 95.0%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alibri"/>
              </a:rPr>
              <a:t>•  Review runbook: PlantReview §6 (60-minute conversation flow).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4E87"/>
                </a:solidFill>
                <a:latin typeface="Calibri"/>
              </a:rPr>
              <a:t>Systemic fixes make tomorrow's review easier. Operational fixes make today's review honest.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AST-INV-PRO-0001   ·   seed 9   ·   generated for Chattanooga - Manufacturers Road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