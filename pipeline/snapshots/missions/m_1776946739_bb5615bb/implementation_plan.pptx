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19456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64E87"/>
                </a:solidFill>
                <a:latin typeface="Calibri"/>
              </a:rPr>
              <a:t>BRAIN-DRIVEN QUEST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606040"/>
            <a:ext cx="105156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4200" b="1">
                <a:solidFill>
                  <a:srgbClr val="1A1A1A"/>
                </a:solidFill>
                <a:latin typeface="Calibri"/>
              </a:rPr>
              <a:t>Implementation Plan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61188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0">
                <a:solidFill>
                  <a:srgbClr val="1A1A1A"/>
                </a:solidFill>
                <a:latin typeface="Calibri"/>
              </a:rPr>
              <a:t>quest:optimize_supply_chains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16052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7280"/>
                </a:solidFill>
                <a:latin typeface="Calibri"/>
              </a:rPr>
              <a:t>Site: BENCH   ·   Mission: m_1776946739_bb5615bb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12648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Generated 2026-04-23T13:43:59 UTC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Implementation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Calibri"/>
              </a:rPr>
              <a:t>Mission &amp; Quest Context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1124712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371600"/>
            <a:ext cx="112471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>
                <a:solidFill>
                  <a:srgbClr val="1A1A1A"/>
                </a:solidFill>
                <a:latin typeface="Calibri"/>
              </a:rPr>
              <a:t>•  User query: bench mission 4</a:t>
            </a:r>
          </a:p>
          <a:p>
            <a:pPr algn="l"/>
            <a:r>
              <a:rPr sz="1400">
                <a:solidFill>
                  <a:srgbClr val="1A1A1A"/>
                </a:solidFill>
                <a:latin typeface="Calibri"/>
              </a:rPr>
              <a:t>•  Quest:      quest:optimize_supply_chains</a:t>
            </a:r>
          </a:p>
          <a:p>
            <a:pPr algn="l"/>
            <a:r>
              <a:rPr sz="1400">
                <a:solidFill>
                  <a:srgbClr val="1A1A1A"/>
                </a:solidFill>
                <a:latin typeface="Calibri"/>
              </a:rPr>
              <a:t>•  Site:       BENCH</a:t>
            </a:r>
          </a:p>
          <a:p>
            <a:pPr algn="l"/>
            <a:r>
              <a:rPr sz="1400">
                <a:solidFill>
                  <a:srgbClr val="1A1A1A"/>
                </a:solidFill>
                <a:latin typeface="Calibri"/>
              </a:rPr>
              <a:t>•  Target:     site = BENCH</a:t>
            </a:r>
          </a:p>
          <a:p>
            <a:pPr algn="l"/>
            <a:r>
              <a:rPr sz="1400">
                <a:solidFill>
                  <a:srgbClr val="1A1A1A"/>
                </a:solidFill>
                <a:latin typeface="Calibri"/>
              </a:rPr>
              <a:t>•  Horizon:    30 days</a:t>
            </a:r>
          </a:p>
          <a:p>
            <a:pPr algn="l"/>
            <a:r>
              <a:rPr sz="1400">
                <a:solidFill>
                  <a:srgbClr val="1A1A1A"/>
                </a:solidFill>
                <a:latin typeface="Calibri"/>
              </a:rPr>
              <a:t>•  Owner:      Anyone</a:t>
            </a:r>
          </a:p>
          <a:p>
            <a:pPr algn="l"/>
            <a:r>
              <a:rPr sz="1400">
                <a:solidFill>
                  <a:srgbClr val="1A1A1A"/>
                </a:solidFill>
                <a:latin typeface="Calibri"/>
              </a:rPr>
              <a:t>•  Scope tags: data_quality</a:t>
            </a:r>
          </a:p>
          <a:p>
            <a:pPr algn="l"/>
            <a:r>
              <a:rPr sz="1400">
                <a:solidFill>
                  <a:srgbClr val="1A1A1A"/>
                </a:solidFill>
                <a:latin typeface="Calibri"/>
              </a:rPr>
              <a:t>•  Parsed by:  unknown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Implementation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Calibri"/>
              </a:rPr>
              <a:t>Entity Schema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1124712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371600"/>
          <a:ext cx="11247120" cy="228599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11780"/>
                <a:gridCol w="2811780"/>
                <a:gridCol w="2811780"/>
                <a:gridCol w="2811780"/>
              </a:tblGrid>
              <a:tr h="326571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</a:rPr>
                        <a:t>Logical table</a:t>
                      </a:r>
                    </a:p>
                  </a:txBody>
                  <a:tcPr>
                    <a:solidFill>
                      <a:srgbClr val="164E8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</a:rPr>
                        <a:t>Qualified</a:t>
                      </a:r>
                    </a:p>
                  </a:txBody>
                  <a:tcPr>
                    <a:solidFill>
                      <a:srgbClr val="164E8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</a:rPr>
                        <a:t>Cols mapped</a:t>
                      </a:r>
                    </a:p>
                  </a:txBody>
                  <a:tcPr>
                    <a:solidFill>
                      <a:srgbClr val="164E8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</a:rPr>
                        <a:t>Sample</a:t>
                      </a:r>
                    </a:p>
                  </a:txBody>
                  <a:tcPr>
                    <a:solidFill>
                      <a:srgbClr val="164E87"/>
                    </a:solidFill>
                  </a:tcPr>
                </a:tc>
              </a:tr>
              <a:tr h="326571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parts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edap_dw_replica.dim_part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7/28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part_id, part_id, part_desc, part_desc, supplier_name, part_</a:t>
                      </a:r>
                    </a:p>
                  </a:txBody>
                  <a:tcPr/>
                </a:tc>
              </a:tr>
              <a:tr h="326571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on_hand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edap_dw_replica.fact_inventory_on_hand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11/30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supplier_id, site, part_id, supplier_id, supplier_name, part</a:t>
                      </a:r>
                    </a:p>
                  </a:txBody>
                  <a:tcPr/>
                </a:tc>
              </a:tr>
              <a:tr h="326571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open_purchase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edap_dw_replica.fact_inventory_open_orders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8/21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part_id, order_date, site, supplier_id, promise_date, open_o</a:t>
                      </a:r>
                    </a:p>
                  </a:txBody>
                  <a:tcPr/>
                </a:tc>
              </a:tr>
              <a:tr h="326571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open_mfg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edap_dw_replica.fact_inventory_open_mfg_orders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6/21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site, order_date, promise_date, part_id, unit_cost, unit_cos</a:t>
                      </a:r>
                    </a:p>
                  </a:txBody>
                  <a:tcPr/>
                </a:tc>
              </a:tr>
              <a:tr h="326571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po_receipts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edap_dw_replica.fact_po_receipt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11/28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supplier_id, receipt_date, site, part_id, promise_date, part</a:t>
                      </a:r>
                    </a:p>
                  </a:txBody>
                  <a:tcPr/>
                </a:tc>
              </a:tr>
              <a:tr h="326573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sales_order_lines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edap_dw_replica.fact_sales_order_line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11/46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site, part_id, part_desc, demand_qty, demand_qty, unit_cost,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548640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6B7280"/>
                </a:solidFill>
                <a:latin typeface="Calibri"/>
              </a:rPr>
              <a:t>RELATIONSHIPS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715000"/>
            <a:ext cx="112471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>
                <a:solidFill>
                  <a:srgbClr val="1A1A1A"/>
                </a:solidFill>
                <a:latin typeface="Calibri"/>
              </a:rPr>
              <a:t>•  on_hand ⇄ open_mfg  on part_id</a:t>
            </a:r>
          </a:p>
          <a:p>
            <a:pPr algn="l"/>
            <a:r>
              <a:rPr sz="1000">
                <a:solidFill>
                  <a:srgbClr val="1A1A1A"/>
                </a:solidFill>
                <a:latin typeface="Calibri"/>
              </a:rPr>
              <a:t>•  on_hand ⇄ open_purchase  on part_id</a:t>
            </a:r>
          </a:p>
          <a:p>
            <a:pPr algn="l"/>
            <a:r>
              <a:rPr sz="1000">
                <a:solidFill>
                  <a:srgbClr val="1A1A1A"/>
                </a:solidFill>
                <a:latin typeface="Calibri"/>
              </a:rPr>
              <a:t>•  on_hand ⇄ parts  on part_id</a:t>
            </a:r>
          </a:p>
          <a:p>
            <a:pPr algn="l"/>
            <a:r>
              <a:rPr sz="1000">
                <a:solidFill>
                  <a:srgbClr val="1A1A1A"/>
                </a:solidFill>
                <a:latin typeface="Calibri"/>
              </a:rPr>
              <a:t>•  on_hand ⇄ po_receipts  on part_id</a:t>
            </a:r>
          </a:p>
          <a:p>
            <a:pPr algn="l"/>
            <a:r>
              <a:rPr sz="1000">
                <a:solidFill>
                  <a:srgbClr val="1A1A1A"/>
                </a:solidFill>
                <a:latin typeface="Calibri"/>
              </a:rPr>
              <a:t>•  on_hand ⇄ sales_order_lines  on part_id</a:t>
            </a:r>
          </a:p>
          <a:p>
            <a:pPr algn="l"/>
            <a:r>
              <a:rPr sz="1000">
                <a:solidFill>
                  <a:srgbClr val="1A1A1A"/>
                </a:solidFill>
                <a:latin typeface="Calibri"/>
              </a:rPr>
              <a:t>•  open_mfg ⇄ open_purchase  on part_id</a:t>
            </a:r>
          </a:p>
          <a:p>
            <a:pPr algn="l"/>
            <a:r>
              <a:rPr sz="1000">
                <a:solidFill>
                  <a:srgbClr val="1A1A1A"/>
                </a:solidFill>
                <a:latin typeface="Calibri"/>
              </a:rPr>
              <a:t>•  open_mfg ⇄ parts  on part_id</a:t>
            </a:r>
          </a:p>
          <a:p>
            <a:pPr algn="l"/>
            <a:r>
              <a:rPr sz="1000">
                <a:solidFill>
                  <a:srgbClr val="1A1A1A"/>
                </a:solidFill>
                <a:latin typeface="Calibri"/>
              </a:rPr>
              <a:t>•  open_mfg ⇄ po_receipts  on part_id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Implementation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Calibri"/>
              </a:rPr>
              <a:t>Current State — KPI Snapshot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1124712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463040"/>
            <a:ext cx="11247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7280"/>
                </a:solidFill>
                <a:latin typeface="Calibri"/>
              </a:rPr>
              <a:t>No KPIs available — analyzers returned empty.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Implementation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Calibri"/>
              </a:rPr>
              <a:t>Root-Cause Findings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1124712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463040"/>
            <a:ext cx="11247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7280"/>
                </a:solidFill>
                <a:latin typeface="Calibri"/>
              </a:rPr>
              <a:t>No findings produced this round.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Implementation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Calibri"/>
              </a:rPr>
              <a:t>Recommended Interventions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1124712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28016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64E87"/>
                </a:solidFill>
                <a:latin typeface="Calibri"/>
              </a:rPr>
              <a:t>SYSTEMIC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64592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>
                <a:solidFill>
                  <a:srgbClr val="1A1A1A"/>
                </a:solidFill>
                <a:latin typeface="Calibri"/>
              </a:rPr>
              <a:t>•  —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28016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F763C"/>
                </a:solidFill>
                <a:latin typeface="Calibri"/>
              </a:rPr>
              <a:t>OPERATIONAL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164592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>
                <a:solidFill>
                  <a:srgbClr val="1A1A1A"/>
                </a:solidFill>
                <a:latin typeface="Calibri"/>
              </a:rPr>
              <a:t>•  —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Implementation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Calibri"/>
              </a:rPr>
              <a:t>Phased Rollout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1124712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28016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A1A1A"/>
                </a:solidFill>
                <a:latin typeface="Calibri"/>
              </a:rPr>
              <a:t>Phase 1 — Stabilize (Week 1-2)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00200"/>
            <a:ext cx="109728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Establish baseline KPIs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Confirm data quality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97180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A1A1A"/>
                </a:solidFill>
                <a:latin typeface="Calibri"/>
              </a:rPr>
              <a:t>Phase 2 — Implement (Week 3-6)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291840"/>
            <a:ext cx="109728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Deploy systemic recommendations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6634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A1A1A"/>
                </a:solidFill>
                <a:latin typeface="Calibri"/>
              </a:rPr>
              <a:t>Phase 3 — Sustain (Week 7+)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983479"/>
            <a:ext cx="109728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Mission auto-refresh continues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Living artifacts overwrite in place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Brain surfaces drift via Body directives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Implementation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Calibri"/>
              </a:rPr>
              <a:t>Dependencies &amp; Risks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1124712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2801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64E87"/>
                </a:solidFill>
                <a:latin typeface="Calibri"/>
              </a:rPr>
              <a:t>DEPENDENCIES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60020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edap_dw_replica connectivity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Open-weight LLM ensemble availability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python-pptx, plotly, kaleido (PNG export)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mermaid-cli (mmdc) for ER diagram render — falls back to table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2801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A61B1B"/>
                </a:solidFill>
                <a:latin typeface="Calibri"/>
              </a:rPr>
              <a:t>RISKS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160020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Analyzer outage degrades scope coverage (handled — _safe_run)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LLM intent mis-parse (handled — keyword fallback)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Stale baseline if first refresh fails — re-run mission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Schema drift in DW — refresh discovered_schema.yaml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Implementation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Calibri"/>
              </a:rPr>
              <a:t>Appendix — Dispatch &amp; Diagnostics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1124712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12480" y="1280160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>
                <a:solidFill>
                  <a:srgbClr val="6B7280"/>
                </a:solidFill>
                <a:latin typeface="Calibri"/>
              </a:rPr>
              <a:t>ANALYZERS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0" y="1554480"/>
            <a:ext cx="32918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>
                <a:solidFill>
                  <a:srgbClr val="1A1A1A"/>
                </a:solidFill>
                <a:latin typeface="Calibri"/>
              </a:rPr>
              <a:t>•  data_quality → parts.missingness: OK (0)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922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Calibri"/>
              </a:rPr>
              <a:t>Mission m_1776946739_bb5615bb  ·  refreshed 2026-04-23T13:43:59 UTC  ·  progress 0%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